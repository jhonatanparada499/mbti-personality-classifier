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3244850" cx="5765800"/>
  <p:notesSz cx="5765800" cy="3244850"/>
  <p:embeddedFontLs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Tahoma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d56d5442_0_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96d56d5442_0_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7f53ff0e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977f53ff0e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77f53ff0e_0_4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977f53ff0e_0_4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77f53ff0e_0_7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977f53ff0e_0_7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77f53ff0e_0_10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977f53ff0e_0_10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4d847e4a6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d4d847e4a6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86df6ee25_0_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d86df6ee25_0_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86df6ee25_0_3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d86df6ee25_0_3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>
            <p:ph type="title"/>
          </p:nvPr>
        </p:nvSpPr>
        <p:spPr>
          <a:xfrm>
            <a:off x="95300" y="72312"/>
            <a:ext cx="264922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B4040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" type="body"/>
          </p:nvPr>
        </p:nvSpPr>
        <p:spPr>
          <a:xfrm>
            <a:off x="480390" y="588635"/>
            <a:ext cx="5077460" cy="1948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8E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8E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B4040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8E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95300" y="72312"/>
            <a:ext cx="264922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B4040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8E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95300" y="72312"/>
            <a:ext cx="264922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94183"/>
              </a:buClr>
              <a:buSzPts val="1400"/>
              <a:buNone/>
              <a:defRPr b="0" i="0" sz="1100">
                <a:solidFill>
                  <a:srgbClr val="09418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8E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4221087" y="3045573"/>
            <a:ext cx="43180" cy="30480"/>
          </a:xfrm>
          <a:custGeom>
            <a:rect b="b" l="l" r="r" t="t"/>
            <a:pathLst>
              <a:path extrusionOk="0" h="30480" w="431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4141470" y="3041611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4319272" y="3041611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4475618" y="3035261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4412450" y="3041611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772318" y="3047961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4683417" y="3041611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4759618" y="3035261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5030598" y="3035261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0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954397" y="3041611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5030598" y="3073361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238077" y="3035261"/>
            <a:ext cx="63500" cy="50800"/>
          </a:xfrm>
          <a:custGeom>
            <a:rect b="b" l="l" r="r" t="t"/>
            <a:pathLst>
              <a:path extrusionOk="0" h="50800" w="63500">
                <a:moveTo>
                  <a:pt x="12700" y="0"/>
                </a:moveTo>
                <a:lnTo>
                  <a:pt x="50800" y="0"/>
                </a:lnTo>
              </a:path>
              <a:path extrusionOk="0" h="50800" w="63500">
                <a:moveTo>
                  <a:pt x="25400" y="12700"/>
                </a:moveTo>
                <a:lnTo>
                  <a:pt x="63500" y="12700"/>
                </a:lnTo>
              </a:path>
              <a:path extrusionOk="0" h="50800" w="63500">
                <a:moveTo>
                  <a:pt x="25400" y="25400"/>
                </a:moveTo>
                <a:lnTo>
                  <a:pt x="63500" y="25400"/>
                </a:lnTo>
              </a:path>
              <a:path extrusionOk="0" h="50800" w="63500">
                <a:moveTo>
                  <a:pt x="0" y="38100"/>
                </a:moveTo>
                <a:lnTo>
                  <a:pt x="50800" y="38100"/>
                </a:lnTo>
              </a:path>
              <a:path extrusionOk="0" h="50800" w="63500">
                <a:moveTo>
                  <a:pt x="25400" y="50800"/>
                </a:moveTo>
                <a:lnTo>
                  <a:pt x="635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352378" y="3047961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699" y="12700"/>
                </a:moveTo>
                <a:lnTo>
                  <a:pt x="50800" y="12700"/>
                </a:lnTo>
              </a:path>
              <a:path extrusionOk="0" h="25400" w="50800">
                <a:moveTo>
                  <a:pt x="12699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326978" y="3028911"/>
            <a:ext cx="0" cy="63500"/>
          </a:xfrm>
          <a:custGeom>
            <a:rect b="b" l="l" r="r" t="t"/>
            <a:pathLst>
              <a:path extrusionOk="0" h="63500" w="120000">
                <a:moveTo>
                  <a:pt x="0" y="6350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603025" y="3065741"/>
            <a:ext cx="20320" cy="20320"/>
          </a:xfrm>
          <a:custGeom>
            <a:rect b="b" l="l" r="r" t="t"/>
            <a:pathLst>
              <a:path extrusionOk="0" h="20319" w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575961" y="3039246"/>
            <a:ext cx="30480" cy="30480"/>
          </a:xfrm>
          <a:custGeom>
            <a:rect b="b" l="l" r="r" t="t"/>
            <a:pathLst>
              <a:path extrusionOk="0" h="30480" w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481104" y="3035261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 txBox="1"/>
          <p:nvPr>
            <p:ph type="title"/>
          </p:nvPr>
        </p:nvSpPr>
        <p:spPr>
          <a:xfrm>
            <a:off x="95300" y="72312"/>
            <a:ext cx="264922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B4040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1"/>
          <p:cNvSpPr txBox="1"/>
          <p:nvPr>
            <p:ph idx="1" type="body"/>
          </p:nvPr>
        </p:nvSpPr>
        <p:spPr>
          <a:xfrm>
            <a:off x="480390" y="588635"/>
            <a:ext cx="5077460" cy="1948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8E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1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7A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7"/>
          <p:cNvGrpSpPr/>
          <p:nvPr/>
        </p:nvGrpSpPr>
        <p:grpSpPr>
          <a:xfrm>
            <a:off x="-144575" y="-4277"/>
            <a:ext cx="6047937" cy="721746"/>
            <a:chOff x="165200" y="317842"/>
            <a:chExt cx="5480686" cy="721746"/>
          </a:xfrm>
        </p:grpSpPr>
        <p:sp>
          <p:nvSpPr>
            <p:cNvPr id="61" name="Google Shape;61;p7"/>
            <p:cNvSpPr/>
            <p:nvPr/>
          </p:nvSpPr>
          <p:spPr>
            <a:xfrm>
              <a:off x="165200" y="317842"/>
              <a:ext cx="5429885" cy="82550"/>
            </a:xfrm>
            <a:custGeom>
              <a:rect b="b" l="l" r="r" t="t"/>
              <a:pathLst>
                <a:path extrusionOk="0" h="82550" w="5429885">
                  <a:moveTo>
                    <a:pt x="537886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429669" y="82384"/>
                  </a:lnTo>
                  <a:lnTo>
                    <a:pt x="5429669" y="50800"/>
                  </a:lnTo>
                  <a:lnTo>
                    <a:pt x="5425661" y="31075"/>
                  </a:lnTo>
                  <a:lnTo>
                    <a:pt x="5414747" y="14922"/>
                  </a:lnTo>
                  <a:lnTo>
                    <a:pt x="5398594" y="4008"/>
                  </a:lnTo>
                  <a:lnTo>
                    <a:pt x="5378869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216001" y="381093"/>
              <a:ext cx="5429885" cy="658495"/>
            </a:xfrm>
            <a:custGeom>
              <a:rect b="b" l="l" r="r" t="t"/>
              <a:pathLst>
                <a:path extrusionOk="0" h="658494" w="5429885">
                  <a:moveTo>
                    <a:pt x="5429670" y="0"/>
                  </a:moveTo>
                  <a:lnTo>
                    <a:pt x="0" y="0"/>
                  </a:lnTo>
                  <a:lnTo>
                    <a:pt x="0" y="658415"/>
                  </a:lnTo>
                  <a:lnTo>
                    <a:pt x="5429670" y="658415"/>
                  </a:lnTo>
                  <a:lnTo>
                    <a:pt x="5429670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165200" y="362256"/>
              <a:ext cx="5429885" cy="626745"/>
            </a:xfrm>
            <a:custGeom>
              <a:rect b="b" l="l" r="r" t="t"/>
              <a:pathLst>
                <a:path extrusionOk="0" h="626744" w="5429885">
                  <a:moveTo>
                    <a:pt x="5429669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5378869" y="626451"/>
                  </a:lnTo>
                  <a:lnTo>
                    <a:pt x="5398594" y="622443"/>
                  </a:lnTo>
                  <a:lnTo>
                    <a:pt x="5414747" y="611528"/>
                  </a:lnTo>
                  <a:lnTo>
                    <a:pt x="5425661" y="595375"/>
                  </a:lnTo>
                  <a:lnTo>
                    <a:pt x="5429669" y="575651"/>
                  </a:lnTo>
                  <a:lnTo>
                    <a:pt x="5429669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7"/>
          <p:cNvSpPr txBox="1"/>
          <p:nvPr/>
        </p:nvSpPr>
        <p:spPr>
          <a:xfrm>
            <a:off x="304520" y="1198802"/>
            <a:ext cx="5152500" cy="10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Jhonatan Parada Torres, Dr. Guozhen An (Faculty Advisor)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Queensborough Community College, Department of Engineering Technology, City University of New York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April 30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, 2026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202496" y="112700"/>
            <a:ext cx="5353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1900">
            <a:noAutofit/>
          </a:bodyPr>
          <a:lstStyle/>
          <a:p>
            <a:pPr indent="-1353820" lvl="0" marL="1512570" marR="252729" rtl="0" algn="ctr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</a:rPr>
              <a:t>End-to-End System of MBTI personality Recognition</a:t>
            </a:r>
            <a:endParaRPr sz="1400">
              <a:solidFill>
                <a:srgbClr val="FFFFFF"/>
              </a:solidFill>
            </a:endParaRPr>
          </a:p>
        </p:txBody>
      </p:sp>
      <p:grpSp>
        <p:nvGrpSpPr>
          <p:cNvPr id="66" name="Google Shape;66;p7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67" name="Google Shape;67;p7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" name="Google Shape;71;p7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72" name="Google Shape;72;p7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8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79" name="Google Shape;79;p8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8"/>
          <p:cNvSpPr txBox="1"/>
          <p:nvPr>
            <p:ph type="title"/>
          </p:nvPr>
        </p:nvSpPr>
        <p:spPr>
          <a:xfrm>
            <a:off x="95300" y="72312"/>
            <a:ext cx="264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Coverage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" name="Google Shape;84;p8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85" name="Google Shape;85;p8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86" name="Google Shape;86;p8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87" name="Google Shape;87;p8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88" name="Google Shape;88;p8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8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93" name="Google Shape;93;p8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96" name="Google Shape;96;p8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8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0" name="Google Shape;100;p8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01" name="Google Shape;101;p8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02" name="Google Shape;102;p8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103" name="Google Shape;10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354" y="36453"/>
            <a:ext cx="3973101" cy="15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4575" y="1334851"/>
            <a:ext cx="3110985" cy="15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9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10" name="Google Shape;110;p9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9"/>
          <p:cNvSpPr txBox="1"/>
          <p:nvPr>
            <p:ph type="title"/>
          </p:nvPr>
        </p:nvSpPr>
        <p:spPr>
          <a:xfrm>
            <a:off x="95300" y="72312"/>
            <a:ext cx="264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Data Coverage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83477" y="3135783"/>
            <a:ext cx="17526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p9"/>
          <p:cNvSpPr txBox="1"/>
          <p:nvPr>
            <p:ph idx="11" type="ftr"/>
          </p:nvPr>
        </p:nvSpPr>
        <p:spPr>
          <a:xfrm>
            <a:off x="2111768" y="3135783"/>
            <a:ext cx="15366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116" name="Google Shape;116;p9"/>
          <p:cNvSpPr txBox="1"/>
          <p:nvPr>
            <p:ph idx="10" type="dt"/>
          </p:nvPr>
        </p:nvSpPr>
        <p:spPr>
          <a:xfrm>
            <a:off x="4472876" y="3135783"/>
            <a:ext cx="4260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117" name="Google Shape;117;p9"/>
          <p:cNvSpPr txBox="1"/>
          <p:nvPr>
            <p:ph idx="12" type="sldNum"/>
          </p:nvPr>
        </p:nvSpPr>
        <p:spPr>
          <a:xfrm>
            <a:off x="5451184" y="3135783"/>
            <a:ext cx="2541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118" name="Google Shape;118;p9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19" name="Google Shape;119;p9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9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24" name="Google Shape;124;p9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25" name="Google Shape;125;p9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126" name="Google Shape;126;p9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27" name="Google Shape;127;p9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9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9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32" name="Google Shape;132;p9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33" name="Google Shape;133;p9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134" name="Google Shape;13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189" y="384688"/>
            <a:ext cx="2378474" cy="247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00" y="384700"/>
            <a:ext cx="2930800" cy="132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300" y="2031777"/>
            <a:ext cx="2930800" cy="781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560" y="38579"/>
            <a:ext cx="4016526" cy="1057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10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43" name="Google Shape;143;p10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10"/>
          <p:cNvSpPr txBox="1"/>
          <p:nvPr>
            <p:ph type="title"/>
          </p:nvPr>
        </p:nvSpPr>
        <p:spPr>
          <a:xfrm>
            <a:off x="95300" y="72312"/>
            <a:ext cx="264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Coverage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" name="Google Shape;148;p10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149" name="Google Shape;149;p10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150" name="Google Shape;150;p10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151" name="Google Shape;151;p10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52" name="Google Shape;152;p10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0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0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10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10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57" name="Google Shape;157;p10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58" name="Google Shape;158;p10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159" name="Google Shape;159;p10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60" name="Google Shape;160;p10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0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0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65" name="Google Shape;165;p10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66" name="Google Shape;166;p10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167" name="Google Shape;16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896" y="1089617"/>
            <a:ext cx="3433375" cy="1947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1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73" name="Google Shape;173;p11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11"/>
          <p:cNvSpPr txBox="1"/>
          <p:nvPr>
            <p:ph type="title"/>
          </p:nvPr>
        </p:nvSpPr>
        <p:spPr>
          <a:xfrm>
            <a:off x="95300" y="72312"/>
            <a:ext cx="264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Methods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11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179" name="Google Shape;179;p11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180" name="Google Shape;180;p11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181" name="Google Shape;181;p11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82" name="Google Shape;182;p11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11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6" name="Google Shape;186;p11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87" name="Google Shape;187;p11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88" name="Google Shape;188;p11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189" name="Google Shape;189;p11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190" name="Google Shape;190;p11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11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11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95" name="Google Shape;195;p11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196" name="Google Shape;196;p11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197" name="Google Shape;19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188" y="336262"/>
            <a:ext cx="3821427" cy="2572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>
            <p:ph type="title"/>
          </p:nvPr>
        </p:nvSpPr>
        <p:spPr>
          <a:xfrm>
            <a:off x="95300" y="72312"/>
            <a:ext cx="264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Methods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203" name="Google Shape;203;p12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04" name="Google Shape;204;p12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12"/>
          <p:cNvSpPr txBox="1"/>
          <p:nvPr/>
        </p:nvSpPr>
        <p:spPr>
          <a:xfrm>
            <a:off x="83477" y="3135783"/>
            <a:ext cx="17526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8" name="Google Shape;208;p12"/>
          <p:cNvSpPr txBox="1"/>
          <p:nvPr>
            <p:ph idx="11" type="ftr"/>
          </p:nvPr>
        </p:nvSpPr>
        <p:spPr>
          <a:xfrm>
            <a:off x="2111768" y="3135783"/>
            <a:ext cx="15366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209" name="Google Shape;209;p12"/>
          <p:cNvSpPr txBox="1"/>
          <p:nvPr>
            <p:ph idx="10" type="dt"/>
          </p:nvPr>
        </p:nvSpPr>
        <p:spPr>
          <a:xfrm>
            <a:off x="4472876" y="3135783"/>
            <a:ext cx="4260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210" name="Google Shape;210;p12"/>
          <p:cNvSpPr txBox="1"/>
          <p:nvPr>
            <p:ph idx="12" type="sldNum"/>
          </p:nvPr>
        </p:nvSpPr>
        <p:spPr>
          <a:xfrm>
            <a:off x="5451184" y="3135783"/>
            <a:ext cx="2541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211" name="Google Shape;211;p12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12" name="Google Shape;212;p12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12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12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17" name="Google Shape;217;p12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18" name="Google Shape;218;p12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219" name="Google Shape;219;p12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20" name="Google Shape;220;p12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12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4" name="Google Shape;224;p12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25" name="Google Shape;225;p12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26" name="Google Shape;226;p12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227" name="Google Shape;22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175" y="336262"/>
            <a:ext cx="3589441" cy="2572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>
            <p:ph type="title"/>
          </p:nvPr>
        </p:nvSpPr>
        <p:spPr>
          <a:xfrm>
            <a:off x="95300" y="72312"/>
            <a:ext cx="264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Methods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233" name="Google Shape;233;p13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34" name="Google Shape;234;p13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13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13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239" name="Google Shape;239;p13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240" name="Google Shape;240;p13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241" name="Google Shape;241;p13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42" name="Google Shape;242;p13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3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" name="Google Shape;246;p13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47" name="Google Shape;247;p13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48" name="Google Shape;248;p13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249" name="Google Shape;249;p13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50" name="Google Shape;250;p13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3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13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55" name="Google Shape;255;p13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56" name="Google Shape;256;p13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257" name="Google Shape;2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75" y="1144187"/>
            <a:ext cx="5461001" cy="95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/>
          <p:nvPr>
            <p:ph type="title"/>
          </p:nvPr>
        </p:nvSpPr>
        <p:spPr>
          <a:xfrm>
            <a:off x="95300" y="72312"/>
            <a:ext cx="264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Methods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263" name="Google Shape;263;p14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64" name="Google Shape;264;p14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14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8" name="Google Shape;268;p14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269" name="Google Shape;269;p14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270" name="Google Shape;270;p14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271" name="Google Shape;271;p14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72" name="Google Shape;272;p14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14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14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77" name="Google Shape;277;p14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78" name="Google Shape;278;p14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279" name="Google Shape;279;p14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80" name="Google Shape;280;p14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4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4" name="Google Shape;284;p14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85" name="Google Shape;285;p14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86" name="Google Shape;286;p14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287" name="Google Shape;28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6462"/>
            <a:ext cx="5461000" cy="2071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5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293" name="Google Shape;293;p15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15"/>
          <p:cNvSpPr txBox="1"/>
          <p:nvPr>
            <p:ph type="title"/>
          </p:nvPr>
        </p:nvSpPr>
        <p:spPr>
          <a:xfrm>
            <a:off x="95300" y="72312"/>
            <a:ext cx="264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Results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83477" y="3135783"/>
            <a:ext cx="17526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8" name="Google Shape;298;p15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299" name="Google Shape;299;p15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300" name="Google Shape;300;p15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301" name="Google Shape;301;p15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02" name="Google Shape;302;p15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15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6" name="Google Shape;306;p15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07" name="Google Shape;307;p15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08" name="Google Shape;308;p15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309" name="Google Shape;309;p15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10" name="Google Shape;310;p15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15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4" name="Google Shape;314;p15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15" name="Google Shape;315;p15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16" name="Google Shape;316;p15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317" name="Google Shape;3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6896"/>
            <a:ext cx="2592200" cy="2249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5876" y="566900"/>
            <a:ext cx="2649300" cy="2261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/>
        </p:nvSpPr>
        <p:spPr>
          <a:xfrm>
            <a:off x="95300" y="44079"/>
            <a:ext cx="53232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94183"/>
                </a:solidFill>
                <a:latin typeface="Tahoma"/>
                <a:ea typeface="Tahoma"/>
                <a:cs typeface="Tahoma"/>
                <a:sym typeface="Tahoma"/>
              </a:rPr>
              <a:t>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16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326" name="Google Shape;326;p16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327" name="Google Shape;327;p16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328" name="Google Shape;328;p16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29" name="Google Shape;329;p16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16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3" name="Google Shape;333;p16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34" name="Google Shape;334;p16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35" name="Google Shape;335;p16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336" name="Google Shape;336;p16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37" name="Google Shape;337;p16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" name="Google Shape;340;p16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1" name="Google Shape;341;p16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42" name="Google Shape;342;p16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43" name="Google Shape;343;p16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344" name="Google Shape;3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1888"/>
            <a:ext cx="2655664" cy="2279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3800" y="551551"/>
            <a:ext cx="2655675" cy="228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p17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352" name="Google Shape;352;p17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353" name="Google Shape;353;p17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354" name="Google Shape;354;p17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55" name="Google Shape;355;p17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17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p17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60" name="Google Shape;360;p17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61" name="Google Shape;361;p17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362" name="Google Shape;362;p17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63" name="Google Shape;363;p17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6" name="Google Shape;366;p17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7" name="Google Shape;367;p17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68" name="Google Shape;368;p17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69" name="Google Shape;369;p17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370" name="Google Shape;3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442" y="44069"/>
            <a:ext cx="3051651" cy="298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98" y="722947"/>
            <a:ext cx="2510274" cy="179895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7"/>
          <p:cNvSpPr txBox="1"/>
          <p:nvPr/>
        </p:nvSpPr>
        <p:spPr>
          <a:xfrm>
            <a:off x="95300" y="44075"/>
            <a:ext cx="2635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94183"/>
                </a:solidFill>
                <a:latin typeface="Tahoma"/>
                <a:ea typeface="Tahoma"/>
                <a:cs typeface="Tahoma"/>
                <a:sym typeface="Tahoma"/>
              </a:rPr>
              <a:t>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"/>
          <p:cNvSpPr txBox="1"/>
          <p:nvPr>
            <p:ph type="title"/>
          </p:nvPr>
        </p:nvSpPr>
        <p:spPr>
          <a:xfrm>
            <a:off x="95300" y="72300"/>
            <a:ext cx="1816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Results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378" name="Google Shape;378;p18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79" name="Google Shape;379;p18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2" name="Google Shape;382;p18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3" name="Google Shape;383;p18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384" name="Google Shape;384;p18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385" name="Google Shape;385;p18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386" name="Google Shape;386;p18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87" name="Google Shape;387;p18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18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1" name="Google Shape;391;p18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92" name="Google Shape;392;p18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393" name="Google Shape;393;p18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394" name="Google Shape;394;p18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395" name="Google Shape;395;p18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18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9" name="Google Shape;399;p18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00" name="Google Shape;400;p18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01" name="Google Shape;401;p18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402" name="Google Shape;4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13" y="336250"/>
            <a:ext cx="5330128" cy="2572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"/>
          <p:cNvSpPr txBox="1"/>
          <p:nvPr/>
        </p:nvSpPr>
        <p:spPr>
          <a:xfrm>
            <a:off x="95300" y="44079"/>
            <a:ext cx="5079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94183"/>
                </a:solidFill>
                <a:latin typeface="Tahoma"/>
                <a:ea typeface="Tahoma"/>
                <a:cs typeface="Tahoma"/>
                <a:sym typeface="Tahoma"/>
              </a:rPr>
              <a:t>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83477" y="3135783"/>
            <a:ext cx="17526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9" name="Google Shape;409;p19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410" name="Google Shape;410;p19"/>
          <p:cNvSpPr txBox="1"/>
          <p:nvPr>
            <p:ph idx="10" type="dt"/>
          </p:nvPr>
        </p:nvSpPr>
        <p:spPr>
          <a:xfrm>
            <a:off x="4472876" y="3135783"/>
            <a:ext cx="4260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411" name="Google Shape;411;p19"/>
          <p:cNvSpPr txBox="1"/>
          <p:nvPr>
            <p:ph idx="12" type="sldNum"/>
          </p:nvPr>
        </p:nvSpPr>
        <p:spPr>
          <a:xfrm>
            <a:off x="5451184" y="3135783"/>
            <a:ext cx="2541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412" name="Google Shape;412;p19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13" name="Google Shape;413;p19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9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9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" name="Google Shape;416;p19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7" name="Google Shape;417;p19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18" name="Google Shape;418;p19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19" name="Google Shape;419;p19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420" name="Google Shape;420;p19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21" name="Google Shape;421;p19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" name="Google Shape;424;p19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5" name="Google Shape;425;p19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26" name="Google Shape;426;p19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27" name="Google Shape;427;p19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428" name="Google Shape;4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5270"/>
            <a:ext cx="1907760" cy="2572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1774" y="382936"/>
            <a:ext cx="3465850" cy="24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20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35" name="Google Shape;435;p20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" name="Google Shape;438;p20"/>
          <p:cNvSpPr txBox="1"/>
          <p:nvPr>
            <p:ph type="title"/>
          </p:nvPr>
        </p:nvSpPr>
        <p:spPr>
          <a:xfrm>
            <a:off x="95300" y="72312"/>
            <a:ext cx="1744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Results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83477" y="3135783"/>
            <a:ext cx="17526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0" name="Google Shape;440;p20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441" name="Google Shape;441;p20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442" name="Google Shape;442;p20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443" name="Google Shape;443;p20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44" name="Google Shape;444;p20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7" name="Google Shape;447;p20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8" name="Google Shape;448;p20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49" name="Google Shape;449;p20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50" name="Google Shape;450;p20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451" name="Google Shape;451;p20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52" name="Google Shape;452;p20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" name="Google Shape;455;p20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6" name="Google Shape;456;p20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57" name="Google Shape;457;p20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58" name="Google Shape;458;p20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459" name="Google Shape;4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087" y="481112"/>
            <a:ext cx="4059974" cy="22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21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65" name="Google Shape;465;p21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8" name="Google Shape;468;p21"/>
          <p:cNvSpPr txBox="1"/>
          <p:nvPr>
            <p:ph type="title"/>
          </p:nvPr>
        </p:nvSpPr>
        <p:spPr>
          <a:xfrm>
            <a:off x="95300" y="72312"/>
            <a:ext cx="1744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Results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0" name="Google Shape;470;p21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471" name="Google Shape;471;p21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472" name="Google Shape;472;p21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473" name="Google Shape;473;p21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74" name="Google Shape;474;p21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p21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8" name="Google Shape;478;p21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79" name="Google Shape;479;p21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80" name="Google Shape;480;p21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481" name="Google Shape;481;p21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82" name="Google Shape;482;p21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21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6" name="Google Shape;486;p21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87" name="Google Shape;487;p21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488" name="Google Shape;488;p21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pic>
        <p:nvPicPr>
          <p:cNvPr id="489" name="Google Shape;489;p21"/>
          <p:cNvPicPr preferRelativeResize="0"/>
          <p:nvPr/>
        </p:nvPicPr>
        <p:blipFill rotWithShape="1">
          <a:blip r:embed="rId3">
            <a:alphaModFix/>
          </a:blip>
          <a:srcRect b="0" l="24035" r="24848" t="0"/>
          <a:stretch/>
        </p:blipFill>
        <p:spPr>
          <a:xfrm>
            <a:off x="3274475" y="358613"/>
            <a:ext cx="2298199" cy="252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83" y="1136546"/>
            <a:ext cx="3093124" cy="971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2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496" name="Google Shape;496;p22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2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2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22"/>
          <p:cNvSpPr txBox="1"/>
          <p:nvPr/>
        </p:nvSpPr>
        <p:spPr>
          <a:xfrm>
            <a:off x="1166329" y="919820"/>
            <a:ext cx="34290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94183"/>
                </a:solidFill>
                <a:latin typeface="Tahoma"/>
                <a:ea typeface="Tahoma"/>
                <a:cs typeface="Tahoma"/>
                <a:sym typeface="Tahoma"/>
              </a:rPr>
              <a:t>Thank you for your interest, questions, and comments!</a:t>
            </a:r>
            <a:endParaRPr sz="1200">
              <a:solidFill>
                <a:srgbClr val="09418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83477" y="3135783"/>
            <a:ext cx="17526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Yi, Jiang, Tran, G´omez, Canning, Bloem &amp; Barrett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1" name="Google Shape;501;p22"/>
          <p:cNvSpPr txBox="1"/>
          <p:nvPr>
            <p:ph idx="11" type="ftr"/>
          </p:nvPr>
        </p:nvSpPr>
        <p:spPr>
          <a:xfrm>
            <a:off x="2111768" y="3135783"/>
            <a:ext cx="15367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Employment and Compensation within AVCs</a:t>
            </a:r>
            <a:endParaRPr/>
          </a:p>
        </p:txBody>
      </p:sp>
      <p:sp>
        <p:nvSpPr>
          <p:cNvPr id="502" name="Google Shape;502;p22"/>
          <p:cNvSpPr txBox="1"/>
          <p:nvPr>
            <p:ph idx="10" type="dt"/>
          </p:nvPr>
        </p:nvSpPr>
        <p:spPr>
          <a:xfrm>
            <a:off x="4472876" y="3135783"/>
            <a:ext cx="42608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 2025</a:t>
            </a:r>
            <a:endParaRPr/>
          </a:p>
        </p:txBody>
      </p:sp>
      <p:sp>
        <p:nvSpPr>
          <p:cNvPr id="503" name="Google Shape;503;p22"/>
          <p:cNvSpPr txBox="1"/>
          <p:nvPr>
            <p:ph idx="12" type="sldNum"/>
          </p:nvPr>
        </p:nvSpPr>
        <p:spPr>
          <a:xfrm>
            <a:off x="5451184" y="3135783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18</a:t>
            </a:r>
            <a:endParaRPr/>
          </a:p>
        </p:txBody>
      </p:sp>
      <p:grpSp>
        <p:nvGrpSpPr>
          <p:cNvPr id="504" name="Google Shape;504;p22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505" name="Google Shape;505;p22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2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2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22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Merlinda Drini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9" name="Google Shape;509;p22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Network IDPS Using Open-Source Tools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510" name="Google Shape;510;p22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511" name="Google Shape;511;p22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  <p:grpSp>
        <p:nvGrpSpPr>
          <p:cNvPr id="512" name="Google Shape;512;p22"/>
          <p:cNvGrpSpPr/>
          <p:nvPr/>
        </p:nvGrpSpPr>
        <p:grpSpPr>
          <a:xfrm>
            <a:off x="0" y="3130346"/>
            <a:ext cx="5760185" cy="109855"/>
            <a:chOff x="0" y="3130346"/>
            <a:chExt cx="5760185" cy="109855"/>
          </a:xfrm>
        </p:grpSpPr>
        <p:sp>
          <p:nvSpPr>
            <p:cNvPr id="513" name="Google Shape;513;p22"/>
            <p:cNvSpPr/>
            <p:nvPr/>
          </p:nvSpPr>
          <p:spPr>
            <a:xfrm>
              <a:off x="0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09418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1919973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2"/>
            <p:cNvSpPr/>
            <p:nvPr/>
          </p:nvSpPr>
          <p:spPr>
            <a:xfrm>
              <a:off x="3839946" y="3130346"/>
              <a:ext cx="1920239" cy="109855"/>
            </a:xfrm>
            <a:custGeom>
              <a:rect b="b" l="l" r="r" t="t"/>
              <a:pathLst>
                <a:path extrusionOk="0" h="109855" w="1920239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22"/>
          <p:cNvSpPr txBox="1"/>
          <p:nvPr/>
        </p:nvSpPr>
        <p:spPr>
          <a:xfrm>
            <a:off x="83477" y="3135783"/>
            <a:ext cx="175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2F2F2"/>
                </a:solidFill>
                <a:latin typeface="Tahoma"/>
                <a:ea typeface="Tahoma"/>
                <a:cs typeface="Tahoma"/>
                <a:sym typeface="Tahoma"/>
              </a:rPr>
              <a:t>Jhonatan Parada Torres, Dr. Guozhen An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7" name="Google Shape;517;p22"/>
          <p:cNvSpPr txBox="1"/>
          <p:nvPr>
            <p:ph idx="11" type="ftr"/>
          </p:nvPr>
        </p:nvSpPr>
        <p:spPr>
          <a:xfrm>
            <a:off x="2111768" y="3135783"/>
            <a:ext cx="1536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System of MBTI personality Recognition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518" name="Google Shape;518;p22"/>
          <p:cNvSpPr txBox="1"/>
          <p:nvPr>
            <p:ph idx="10" type="dt"/>
          </p:nvPr>
        </p:nvSpPr>
        <p:spPr>
          <a:xfrm>
            <a:off x="4472876" y="3135783"/>
            <a:ext cx="4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94183"/>
                </a:solidFill>
              </a:rPr>
              <a:t>April 2026</a:t>
            </a:r>
            <a:endParaRPr>
              <a:solidFill>
                <a:srgbClr val="094183"/>
              </a:solidFill>
            </a:endParaRPr>
          </a:p>
        </p:txBody>
      </p:sp>
      <p:sp>
        <p:nvSpPr>
          <p:cNvPr id="519" name="Google Shape;519;p22"/>
          <p:cNvSpPr txBox="1"/>
          <p:nvPr>
            <p:ph idx="12" type="sldNum"/>
          </p:nvPr>
        </p:nvSpPr>
        <p:spPr>
          <a:xfrm>
            <a:off x="5451184" y="3135783"/>
            <a:ext cx="25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4183"/>
                </a:solidFill>
              </a:rPr>
              <a:t>‹#›</a:t>
            </a:fld>
            <a:r>
              <a:rPr lang="en-US">
                <a:solidFill>
                  <a:srgbClr val="094183"/>
                </a:solidFill>
              </a:rPr>
              <a:t> / 18</a:t>
            </a:r>
            <a:endParaRPr>
              <a:solidFill>
                <a:srgbClr val="094183"/>
              </a:solidFill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4040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