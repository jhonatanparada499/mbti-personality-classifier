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3244850" cx="5765800"/>
  <p:notesSz cx="5765800" cy="3244850"/>
  <p:embeddedFontLst>
    <p:embeddedFont>
      <p:font typeface="Tahoma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Tahoma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Tahoma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6d56d5442_0_2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g396d56d5442_0_2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77f53ff0e_0_8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977f53ff0e_0_8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77f53ff0e_0_4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977f53ff0e_0_4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4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77f53ff0e_0_7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977f53ff0e_0_7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77f53ff0e_0_101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977f53ff0e_0_101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5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4d847e4a6_0_0:notes"/>
          <p:cNvSpPr txBox="1"/>
          <p:nvPr>
            <p:ph idx="1" type="body"/>
          </p:nvPr>
        </p:nvSpPr>
        <p:spPr>
          <a:xfrm>
            <a:off x="576575" y="1541300"/>
            <a:ext cx="4612500" cy="146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d4d847e4a6_0_0:notes"/>
          <p:cNvSpPr/>
          <p:nvPr>
            <p:ph idx="2" type="sldImg"/>
          </p:nvPr>
        </p:nvSpPr>
        <p:spPr>
          <a:xfrm>
            <a:off x="961150" y="243350"/>
            <a:ext cx="384420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3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2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2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7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7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8:notes"/>
          <p:cNvSpPr txBox="1"/>
          <p:nvPr>
            <p:ph idx="1" type="body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8:notes"/>
          <p:cNvSpPr/>
          <p:nvPr>
            <p:ph idx="2" type="sldImg"/>
          </p:nvPr>
        </p:nvSpPr>
        <p:spPr>
          <a:xfrm>
            <a:off x="961150" y="243350"/>
            <a:ext cx="3844050" cy="1216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3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"/>
          <p:cNvSpPr txBox="1"/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body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2" type="body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94183"/>
              </a:buClr>
              <a:buSzPts val="1400"/>
              <a:buNone/>
              <a:defRPr b="0" i="0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4221087" y="3045573"/>
            <a:ext cx="43180" cy="30480"/>
          </a:xfrm>
          <a:custGeom>
            <a:rect b="b" l="l" r="r" t="t"/>
            <a:pathLst>
              <a:path extrusionOk="0" h="30480" w="431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4141470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/>
          <p:nvPr/>
        </p:nvSpPr>
        <p:spPr>
          <a:xfrm>
            <a:off x="4319272" y="3041611"/>
            <a:ext cx="25400" cy="38100"/>
          </a:xfrm>
          <a:custGeom>
            <a:rect b="b" l="l" r="r" t="t"/>
            <a:pathLst>
              <a:path extrusionOk="0" h="38100" w="254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4475618" y="3035261"/>
            <a:ext cx="64135" cy="50800"/>
          </a:xfrm>
          <a:custGeom>
            <a:rect b="b" l="l" r="r" t="t"/>
            <a:pathLst>
              <a:path extrusionOk="0" h="50800" w="64135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extrusionOk="0" h="50800" w="64135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extrusionOk="0" h="50800" w="64135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4412450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772318" y="3047961"/>
            <a:ext cx="38100" cy="0"/>
          </a:xfrm>
          <a:custGeom>
            <a:rect b="b" l="l" r="r" t="t"/>
            <a:pathLst>
              <a:path extrusionOk="0" h="120000"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"/>
          <p:cNvSpPr/>
          <p:nvPr/>
        </p:nvSpPr>
        <p:spPr>
          <a:xfrm>
            <a:off x="468341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4759618" y="3035261"/>
            <a:ext cx="50800" cy="50800"/>
          </a:xfrm>
          <a:custGeom>
            <a:rect b="b" l="l" r="r" t="t"/>
            <a:pathLst>
              <a:path extrusionOk="0" h="50800" w="50800">
                <a:moveTo>
                  <a:pt x="0" y="0"/>
                </a:moveTo>
                <a:lnTo>
                  <a:pt x="38100" y="0"/>
                </a:lnTo>
              </a:path>
              <a:path extrusionOk="0" h="50800" w="50800">
                <a:moveTo>
                  <a:pt x="12700" y="25400"/>
                </a:moveTo>
                <a:lnTo>
                  <a:pt x="50800" y="25400"/>
                </a:lnTo>
              </a:path>
              <a:path extrusionOk="0" h="50800" w="50800">
                <a:moveTo>
                  <a:pt x="0" y="38100"/>
                </a:moveTo>
                <a:lnTo>
                  <a:pt x="38100" y="38100"/>
                </a:lnTo>
              </a:path>
              <a:path extrusionOk="0" h="50800" w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5030598" y="30352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700" y="12700"/>
                </a:moveTo>
                <a:lnTo>
                  <a:pt x="50800" y="12700"/>
                </a:lnTo>
              </a:path>
              <a:path extrusionOk="0" h="25400" w="508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"/>
          <p:cNvSpPr/>
          <p:nvPr/>
        </p:nvSpPr>
        <p:spPr>
          <a:xfrm>
            <a:off x="4954397" y="3041611"/>
            <a:ext cx="203200" cy="38100"/>
          </a:xfrm>
          <a:custGeom>
            <a:rect b="b" l="l" r="r" t="t"/>
            <a:pathLst>
              <a:path extrusionOk="0" h="38100" w="2032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extrusionOk="0" h="38100" w="2032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"/>
          <p:cNvSpPr/>
          <p:nvPr/>
        </p:nvSpPr>
        <p:spPr>
          <a:xfrm>
            <a:off x="5030598" y="3073361"/>
            <a:ext cx="50800" cy="12700"/>
          </a:xfrm>
          <a:custGeom>
            <a:rect b="b" l="l" r="r" t="t"/>
            <a:pathLst>
              <a:path extrusionOk="0" h="12700" w="50800">
                <a:moveTo>
                  <a:pt x="0" y="0"/>
                </a:moveTo>
                <a:lnTo>
                  <a:pt x="38100" y="0"/>
                </a:lnTo>
              </a:path>
              <a:path extrusionOk="0" h="12700" w="508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238077" y="3035261"/>
            <a:ext cx="63500" cy="50800"/>
          </a:xfrm>
          <a:custGeom>
            <a:rect b="b" l="l" r="r" t="t"/>
            <a:pathLst>
              <a:path extrusionOk="0" h="50800" w="63500">
                <a:moveTo>
                  <a:pt x="12700" y="0"/>
                </a:moveTo>
                <a:lnTo>
                  <a:pt x="50800" y="0"/>
                </a:lnTo>
              </a:path>
              <a:path extrusionOk="0" h="50800" w="63500">
                <a:moveTo>
                  <a:pt x="25400" y="12700"/>
                </a:moveTo>
                <a:lnTo>
                  <a:pt x="63500" y="12700"/>
                </a:lnTo>
              </a:path>
              <a:path extrusionOk="0" h="50800" w="63500">
                <a:moveTo>
                  <a:pt x="25400" y="25400"/>
                </a:moveTo>
                <a:lnTo>
                  <a:pt x="63500" y="25400"/>
                </a:lnTo>
              </a:path>
              <a:path extrusionOk="0" h="50800" w="63500">
                <a:moveTo>
                  <a:pt x="0" y="38100"/>
                </a:moveTo>
                <a:lnTo>
                  <a:pt x="50800" y="38100"/>
                </a:lnTo>
              </a:path>
              <a:path extrusionOk="0" h="50800" w="63500">
                <a:moveTo>
                  <a:pt x="25400" y="50800"/>
                </a:moveTo>
                <a:lnTo>
                  <a:pt x="63500" y="508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352378" y="3047961"/>
            <a:ext cx="50800" cy="25400"/>
          </a:xfrm>
          <a:custGeom>
            <a:rect b="b" l="l" r="r" t="t"/>
            <a:pathLst>
              <a:path extrusionOk="0" h="25400" w="50800">
                <a:moveTo>
                  <a:pt x="0" y="0"/>
                </a:moveTo>
                <a:lnTo>
                  <a:pt x="38100" y="0"/>
                </a:lnTo>
              </a:path>
              <a:path extrusionOk="0" h="25400" w="50800">
                <a:moveTo>
                  <a:pt x="12699" y="12700"/>
                </a:moveTo>
                <a:lnTo>
                  <a:pt x="50800" y="12700"/>
                </a:lnTo>
              </a:path>
              <a:path extrusionOk="0" h="25400" w="50800">
                <a:moveTo>
                  <a:pt x="12699" y="25400"/>
                </a:moveTo>
                <a:lnTo>
                  <a:pt x="50800" y="2540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326978" y="3028911"/>
            <a:ext cx="0" cy="63500"/>
          </a:xfrm>
          <a:custGeom>
            <a:rect b="b" l="l" r="r" t="t"/>
            <a:pathLst>
              <a:path extrusionOk="0" h="63500" w="120000">
                <a:moveTo>
                  <a:pt x="0" y="63500"/>
                </a:moveTo>
                <a:lnTo>
                  <a:pt x="0" y="0"/>
                </a:lnTo>
              </a:path>
            </a:pathLst>
          </a:custGeom>
          <a:noFill/>
          <a:ln cap="flat" cmpd="sng" w="9525">
            <a:solidFill>
              <a:srgbClr val="D6D6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603025" y="3065741"/>
            <a:ext cx="20320" cy="20320"/>
          </a:xfrm>
          <a:custGeom>
            <a:rect b="b" l="l" r="r" t="t"/>
            <a:pathLst>
              <a:path extrusionOk="0" h="20319" w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575961" y="3039246"/>
            <a:ext cx="30480" cy="30480"/>
          </a:xfrm>
          <a:custGeom>
            <a:rect b="b" l="l" r="r" t="t"/>
            <a:pathLst>
              <a:path extrusionOk="0" h="30480" w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5481104" y="3035261"/>
            <a:ext cx="233679" cy="50800"/>
          </a:xfrm>
          <a:custGeom>
            <a:rect b="b" l="l" r="r" t="t"/>
            <a:pathLst>
              <a:path extrusionOk="0" h="50800" w="233679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extrusionOk="0" h="50800" w="233679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extrusionOk="0" h="50800" w="233679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extrusionOk="0" h="50800" w="233679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cap="flat" cmpd="sng" w="9525">
            <a:solidFill>
              <a:srgbClr val="ADAD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 txBox="1"/>
          <p:nvPr>
            <p:ph type="title"/>
          </p:nvPr>
        </p:nvSpPr>
        <p:spPr>
          <a:xfrm>
            <a:off x="95300" y="72312"/>
            <a:ext cx="2649220" cy="19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B40404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4" name="Google Shape;24;p1"/>
          <p:cNvSpPr txBox="1"/>
          <p:nvPr>
            <p:ph idx="1" type="body"/>
          </p:nvPr>
        </p:nvSpPr>
        <p:spPr>
          <a:xfrm>
            <a:off x="480390" y="588635"/>
            <a:ext cx="5077460" cy="19488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1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8E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1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" name="Google Shape;27;p1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12700">
              <a:lnSpc>
                <a:spcPct val="112500"/>
              </a:lnSpc>
              <a:spcBef>
                <a:spcPts val="0"/>
              </a:spcBef>
              <a:buNone/>
              <a:defRPr b="0" i="0" sz="600">
                <a:solidFill>
                  <a:srgbClr val="7A0000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7"/>
          <p:cNvGrpSpPr/>
          <p:nvPr/>
        </p:nvGrpSpPr>
        <p:grpSpPr>
          <a:xfrm>
            <a:off x="-144575" y="-4277"/>
            <a:ext cx="6047937" cy="721746"/>
            <a:chOff x="165200" y="317842"/>
            <a:chExt cx="5480686" cy="721746"/>
          </a:xfrm>
        </p:grpSpPr>
        <p:sp>
          <p:nvSpPr>
            <p:cNvPr id="61" name="Google Shape;61;p7"/>
            <p:cNvSpPr/>
            <p:nvPr/>
          </p:nvSpPr>
          <p:spPr>
            <a:xfrm>
              <a:off x="165200" y="317842"/>
              <a:ext cx="5429885" cy="82550"/>
            </a:xfrm>
            <a:custGeom>
              <a:rect b="b" l="l" r="r" t="t"/>
              <a:pathLst>
                <a:path extrusionOk="0" h="82550" w="5429885">
                  <a:moveTo>
                    <a:pt x="5378869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429669" y="82384"/>
                  </a:lnTo>
                  <a:lnTo>
                    <a:pt x="5429669" y="50800"/>
                  </a:lnTo>
                  <a:lnTo>
                    <a:pt x="5425661" y="31075"/>
                  </a:lnTo>
                  <a:lnTo>
                    <a:pt x="5414747" y="14922"/>
                  </a:lnTo>
                  <a:lnTo>
                    <a:pt x="5398594" y="4008"/>
                  </a:lnTo>
                  <a:lnTo>
                    <a:pt x="53788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7"/>
            <p:cNvSpPr/>
            <p:nvPr/>
          </p:nvSpPr>
          <p:spPr>
            <a:xfrm>
              <a:off x="216001" y="381093"/>
              <a:ext cx="5429885" cy="658495"/>
            </a:xfrm>
            <a:custGeom>
              <a:rect b="b" l="l" r="r" t="t"/>
              <a:pathLst>
                <a:path extrusionOk="0" h="658494" w="5429885">
                  <a:moveTo>
                    <a:pt x="5429670" y="0"/>
                  </a:moveTo>
                  <a:lnTo>
                    <a:pt x="0" y="0"/>
                  </a:lnTo>
                  <a:lnTo>
                    <a:pt x="0" y="658415"/>
                  </a:lnTo>
                  <a:lnTo>
                    <a:pt x="5429670" y="658415"/>
                  </a:lnTo>
                  <a:lnTo>
                    <a:pt x="5429670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7"/>
            <p:cNvSpPr/>
            <p:nvPr/>
          </p:nvSpPr>
          <p:spPr>
            <a:xfrm>
              <a:off x="165200" y="362256"/>
              <a:ext cx="5429885" cy="626745"/>
            </a:xfrm>
            <a:custGeom>
              <a:rect b="b" l="l" r="r" t="t"/>
              <a:pathLst>
                <a:path extrusionOk="0" h="626744" w="5429885">
                  <a:moveTo>
                    <a:pt x="5429669" y="0"/>
                  </a:moveTo>
                  <a:lnTo>
                    <a:pt x="0" y="0"/>
                  </a:lnTo>
                  <a:lnTo>
                    <a:pt x="0" y="575651"/>
                  </a:lnTo>
                  <a:lnTo>
                    <a:pt x="4008" y="595375"/>
                  </a:lnTo>
                  <a:lnTo>
                    <a:pt x="14922" y="611528"/>
                  </a:lnTo>
                  <a:lnTo>
                    <a:pt x="31075" y="622443"/>
                  </a:lnTo>
                  <a:lnTo>
                    <a:pt x="50800" y="626451"/>
                  </a:lnTo>
                  <a:lnTo>
                    <a:pt x="5378869" y="626451"/>
                  </a:lnTo>
                  <a:lnTo>
                    <a:pt x="5398594" y="622443"/>
                  </a:lnTo>
                  <a:lnTo>
                    <a:pt x="5414747" y="611528"/>
                  </a:lnTo>
                  <a:lnTo>
                    <a:pt x="5425661" y="595375"/>
                  </a:lnTo>
                  <a:lnTo>
                    <a:pt x="5429669" y="575651"/>
                  </a:lnTo>
                  <a:lnTo>
                    <a:pt x="5429669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" name="Google Shape;64;p7"/>
          <p:cNvSpPr txBox="1"/>
          <p:nvPr/>
        </p:nvSpPr>
        <p:spPr>
          <a:xfrm>
            <a:off x="304520" y="1198802"/>
            <a:ext cx="5152500" cy="10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975">
            <a:spAutoFit/>
          </a:bodyPr>
          <a:lstStyle/>
          <a:p>
            <a:pPr indent="0" lvl="0" marL="12700" marR="5080" rtl="0" algn="ctr">
              <a:lnSpc>
                <a:spcPct val="10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Jhonatan Parada Torres, Dr. Guozhen An (Faculty Advisor)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15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Queensborough Community College, Department of Engineering Technology, City University of New York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1345"/>
              </a:spcBef>
              <a:spcAft>
                <a:spcPts val="0"/>
              </a:spcAft>
              <a:buNone/>
            </a:pP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April 30</a:t>
            </a:r>
            <a:r>
              <a:rPr lang="en-US" sz="1100">
                <a:latin typeface="Tahoma"/>
                <a:ea typeface="Tahoma"/>
                <a:cs typeface="Tahoma"/>
                <a:sym typeface="Tahoma"/>
              </a:rPr>
              <a:t>, 2026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5" name="Google Shape;65;p7"/>
          <p:cNvSpPr txBox="1"/>
          <p:nvPr>
            <p:ph type="title"/>
          </p:nvPr>
        </p:nvSpPr>
        <p:spPr>
          <a:xfrm>
            <a:off x="202496" y="112700"/>
            <a:ext cx="53538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41900">
            <a:noAutofit/>
          </a:bodyPr>
          <a:lstStyle/>
          <a:p>
            <a:pPr indent="-1353820" lvl="0" marL="1512570" marR="252729" rtl="0" algn="ctr">
              <a:lnSpc>
                <a:spcPct val="106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FFFF"/>
                </a:solidFill>
              </a:rPr>
              <a:t>End-to-End System of MBTI personality Recognition</a:t>
            </a:r>
            <a:endParaRPr sz="1400">
              <a:solidFill>
                <a:srgbClr val="FFFFFF"/>
              </a:solidFill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67" name="Google Shape;67;p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" name="Google Shape;70;p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1" name="Google Shape;71;p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2" name="Google Shape;72;p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73" name="Google Shape;73;p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79" name="Google Shape;79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8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83" name="Google Shape;83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4" name="Google Shape;84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85" name="Google Shape;85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86" name="Google Shape;86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87" name="Google Shape;87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88" name="Google Shape;88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" name="Google Shape;91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2" name="Google Shape;92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3" name="Google Shape;93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95" name="Google Shape;95;p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96" name="Google Shape;96;p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9" name="Google Shape;99;p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Google Shape;100;p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1" name="Google Shape;101;p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02" name="Google Shape;102;p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03" name="Google Shape;10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6354" y="36453"/>
            <a:ext cx="3973101" cy="156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4575" y="1334851"/>
            <a:ext cx="3110985" cy="156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0" name="Google Shape;110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" name="Google Shape;113;p9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14" name="Google Shape;114;p9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5" name="Google Shape;115;p9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16" name="Google Shape;116;p9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17" name="Google Shape;117;p9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18" name="Google Shape;118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19" name="Google Shape;119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2" name="Google Shape;122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4" name="Google Shape;124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25" name="Google Shape;125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26" name="Google Shape;126;p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27" name="Google Shape;127;p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0" name="Google Shape;130;p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1" name="Google Shape;131;p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2" name="Google Shape;132;p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33" name="Google Shape;133;p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34" name="Google Shape;13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1189" y="384688"/>
            <a:ext cx="2378474" cy="2475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300" y="384700"/>
            <a:ext cx="2930800" cy="132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300" y="2031777"/>
            <a:ext cx="2930800" cy="7815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637" y="38579"/>
            <a:ext cx="4016526" cy="1057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2" name="Google Shape;142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43" name="Google Shape;143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0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47" name="Google Shape;147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8" name="Google Shape;148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49" name="Google Shape;149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50" name="Google Shape;150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51" name="Google Shape;151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52" name="Google Shape;152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6" name="Google Shape;156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7" name="Google Shape;157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58" name="Google Shape;158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59" name="Google Shape;159;p1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60" name="Google Shape;160;p1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1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3" name="Google Shape;163;p1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4" name="Google Shape;164;p1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5" name="Google Shape;165;p1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66" name="Google Shape;166;p1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67" name="Google Shape;16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3896" y="1089617"/>
            <a:ext cx="3433375" cy="19479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73" name="Google Shape;173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6" name="Google Shape;176;p11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Motivation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8" name="Google Shape;178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179" name="Google Shape;179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180" name="Google Shape;180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181" name="Google Shape;181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82" name="Google Shape;182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5" name="Google Shape;185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6" name="Google Shape;186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7" name="Google Shape;187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88" name="Google Shape;188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189" name="Google Shape;189;p11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190" name="Google Shape;190;p11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1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1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3" name="Google Shape;193;p11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4" name="Google Shape;194;p11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5" name="Google Shape;195;p11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196" name="Google Shape;196;p11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197" name="Google Shape;19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188" y="336262"/>
            <a:ext cx="3821427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03" name="Google Shape;203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04" name="Google Shape;204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7" name="Google Shape;207;p12"/>
          <p:cNvSpPr txBox="1"/>
          <p:nvPr/>
        </p:nvSpPr>
        <p:spPr>
          <a:xfrm>
            <a:off x="83477" y="3135783"/>
            <a:ext cx="1752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8" name="Google Shape;208;p12"/>
          <p:cNvSpPr txBox="1"/>
          <p:nvPr>
            <p:ph idx="11" type="ftr"/>
          </p:nvPr>
        </p:nvSpPr>
        <p:spPr>
          <a:xfrm>
            <a:off x="2111768" y="3135783"/>
            <a:ext cx="15366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09" name="Google Shape;209;p12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10" name="Google Shape;210;p12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11" name="Google Shape;211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12" name="Google Shape;212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5" name="Google Shape;215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6" name="Google Shape;216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7" name="Google Shape;217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18" name="Google Shape;218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19" name="Google Shape;219;p12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20" name="Google Shape;220;p12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2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12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3" name="Google Shape;223;p12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4" name="Google Shape;224;p12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5" name="Google Shape;225;p12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26" name="Google Shape;226;p12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27" name="Google Shape;22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175" y="336262"/>
            <a:ext cx="3589441" cy="2572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3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33" name="Google Shape;233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34" name="Google Shape;234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7" name="Google Shape;237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8" name="Google Shape;238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39" name="Google Shape;239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40" name="Google Shape;240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41" name="Google Shape;241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42" name="Google Shape;242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5" name="Google Shape;245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6" name="Google Shape;246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7" name="Google Shape;247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48" name="Google Shape;248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49" name="Google Shape;249;p13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50" name="Google Shape;250;p13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3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3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" name="Google Shape;253;p13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4" name="Google Shape;254;p13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5" name="Google Shape;255;p13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56" name="Google Shape;256;p13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57" name="Google Shape;2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575" y="1144187"/>
            <a:ext cx="5461001" cy="9564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63" name="Google Shape;263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64" name="Google Shape;264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7" name="Google Shape;267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8" name="Google Shape;268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69" name="Google Shape;269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270" name="Google Shape;270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271" name="Google Shape;271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72" name="Google Shape;272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5" name="Google Shape;275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6" name="Google Shape;276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7" name="Google Shape;277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78" name="Google Shape;278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279" name="Google Shape;279;p14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80" name="Google Shape;280;p14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4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3" name="Google Shape;283;p14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4" name="Google Shape;284;p14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5" name="Google Shape;285;p14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86" name="Google Shape;286;p14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287" name="Google Shape;28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86462"/>
            <a:ext cx="5461000" cy="2071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oogle Shape;292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293" name="Google Shape;293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6" name="Google Shape;296;p15"/>
          <p:cNvSpPr txBox="1"/>
          <p:nvPr>
            <p:ph type="title"/>
          </p:nvPr>
        </p:nvSpPr>
        <p:spPr>
          <a:xfrm>
            <a:off x="95300" y="72312"/>
            <a:ext cx="26493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Data Coverage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8" name="Google Shape;298;p15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299" name="Google Shape;299;p15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00" name="Google Shape;300;p15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01" name="Google Shape;301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02" name="Google Shape;302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5" name="Google Shape;305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6" name="Google Shape;306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7" name="Google Shape;307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08" name="Google Shape;308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09" name="Google Shape;309;p15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10" name="Google Shape;310;p15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15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15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3" name="Google Shape;313;p15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4" name="Google Shape;314;p15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5" name="Google Shape;315;p15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16" name="Google Shape;316;p15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17" name="Google Shape;31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66896"/>
            <a:ext cx="2592200" cy="2249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5876" y="566900"/>
            <a:ext cx="2649300" cy="2261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6"/>
          <p:cNvSpPr txBox="1"/>
          <p:nvPr/>
        </p:nvSpPr>
        <p:spPr>
          <a:xfrm>
            <a:off x="95300" y="44079"/>
            <a:ext cx="53232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Methods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4" name="Google Shape;324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26" name="Google Shape;326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27" name="Google Shape;327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28" name="Google Shape;328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29" name="Google Shape;329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2" name="Google Shape;332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3" name="Google Shape;333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4" name="Google Shape;334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35" name="Google Shape;335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36" name="Google Shape;336;p16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37" name="Google Shape;337;p16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16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16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0" name="Google Shape;340;p16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1" name="Google Shape;341;p16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2" name="Google Shape;342;p16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43" name="Google Shape;343;p16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44" name="Google Shape;34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51888"/>
            <a:ext cx="2655664" cy="2279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3800" y="551551"/>
            <a:ext cx="2655675" cy="228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7"/>
          <p:cNvSpPr txBox="1"/>
          <p:nvPr>
            <p:ph type="title"/>
          </p:nvPr>
        </p:nvSpPr>
        <p:spPr>
          <a:xfrm>
            <a:off x="95300" y="72300"/>
            <a:ext cx="1816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Coverage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51" name="Google Shape;351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52" name="Google Shape;352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5" name="Google Shape;355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6" name="Google Shape;356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57" name="Google Shape;357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58" name="Google Shape;358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59" name="Google Shape;359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60" name="Google Shape;360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3" name="Google Shape;363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4" name="Google Shape;364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5" name="Google Shape;365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66" name="Google Shape;366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67" name="Google Shape;367;p17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68" name="Google Shape;368;p17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17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17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71" name="Google Shape;371;p17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2" name="Google Shape;372;p17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73" name="Google Shape;373;p17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74" name="Google Shape;374;p17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pic>
        <p:nvPicPr>
          <p:cNvPr id="375" name="Google Shape;37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013" y="336250"/>
            <a:ext cx="5330128" cy="2572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8"/>
          <p:cNvSpPr txBox="1"/>
          <p:nvPr/>
        </p:nvSpPr>
        <p:spPr>
          <a:xfrm>
            <a:off x="95300" y="44079"/>
            <a:ext cx="5079300" cy="2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93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Results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1" name="Google Shape;381;p18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2" name="Google Shape;382;p18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383" name="Google Shape;383;p18"/>
          <p:cNvSpPr txBox="1"/>
          <p:nvPr>
            <p:ph idx="10" type="dt"/>
          </p:nvPr>
        </p:nvSpPr>
        <p:spPr>
          <a:xfrm>
            <a:off x="4472876" y="3135783"/>
            <a:ext cx="4260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384" name="Google Shape;384;p18"/>
          <p:cNvSpPr txBox="1"/>
          <p:nvPr>
            <p:ph idx="12" type="sldNum"/>
          </p:nvPr>
        </p:nvSpPr>
        <p:spPr>
          <a:xfrm>
            <a:off x="5451184" y="3135783"/>
            <a:ext cx="254100" cy="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385" name="Google Shape;385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86" name="Google Shape;386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9" name="Google Shape;389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0" name="Google Shape;390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1" name="Google Shape;391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2" name="Google Shape;392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393" name="Google Shape;393;p18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394" name="Google Shape;394;p18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18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8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7" name="Google Shape;397;p18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8" name="Google Shape;398;p18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399" name="Google Shape;399;p18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00" name="Google Shape;400;p18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oogle Shape;405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06" name="Google Shape;406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9" name="Google Shape;409;p19"/>
          <p:cNvSpPr txBox="1"/>
          <p:nvPr>
            <p:ph type="title"/>
          </p:nvPr>
        </p:nvSpPr>
        <p:spPr>
          <a:xfrm>
            <a:off x="95300" y="72312"/>
            <a:ext cx="1744200" cy="1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4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Summary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10" name="Google Shape;410;p19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1" name="Google Shape;411;p19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12" name="Google Shape;412;p19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13" name="Google Shape;413;p19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14" name="Google Shape;414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15" name="Google Shape;415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8" name="Google Shape;418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9" name="Google Shape;419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0" name="Google Shape;420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1" name="Google Shape;421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22" name="Google Shape;422;p19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23" name="Google Shape;423;p19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19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19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6" name="Google Shape;426;p19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19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8" name="Google Shape;428;p19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29" name="Google Shape;429;p19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4" name="Google Shape;434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35" name="Google Shape;435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8" name="Google Shape;438;p20"/>
          <p:cNvSpPr txBox="1"/>
          <p:nvPr/>
        </p:nvSpPr>
        <p:spPr>
          <a:xfrm>
            <a:off x="1166329" y="919820"/>
            <a:ext cx="342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94183"/>
                </a:solidFill>
                <a:latin typeface="Tahoma"/>
                <a:ea typeface="Tahoma"/>
                <a:cs typeface="Tahoma"/>
                <a:sym typeface="Tahoma"/>
              </a:rPr>
              <a:t>Thank you for your interest, questions, and comments!</a:t>
            </a:r>
            <a:endParaRPr sz="1200">
              <a:solidFill>
                <a:srgbClr val="09418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20"/>
          <p:cNvSpPr txBox="1"/>
          <p:nvPr/>
        </p:nvSpPr>
        <p:spPr>
          <a:xfrm>
            <a:off x="83477" y="3135783"/>
            <a:ext cx="17526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Yi, Jiang, Tran, G´omez, Canning, Bloem &amp; Barrett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0" name="Google Shape;440;p20"/>
          <p:cNvSpPr txBox="1"/>
          <p:nvPr>
            <p:ph idx="11" type="ftr"/>
          </p:nvPr>
        </p:nvSpPr>
        <p:spPr>
          <a:xfrm>
            <a:off x="2111768" y="3135783"/>
            <a:ext cx="15367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Employment and Compensation within AVCs</a:t>
            </a:r>
            <a:endParaRPr/>
          </a:p>
        </p:txBody>
      </p:sp>
      <p:sp>
        <p:nvSpPr>
          <p:cNvPr id="441" name="Google Shape;441;p20"/>
          <p:cNvSpPr txBox="1"/>
          <p:nvPr>
            <p:ph idx="10" type="dt"/>
          </p:nvPr>
        </p:nvSpPr>
        <p:spPr>
          <a:xfrm>
            <a:off x="4472876" y="3135783"/>
            <a:ext cx="426085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March 2025</a:t>
            </a:r>
            <a:endParaRPr/>
          </a:p>
        </p:txBody>
      </p:sp>
      <p:sp>
        <p:nvSpPr>
          <p:cNvPr id="442" name="Google Shape;442;p20"/>
          <p:cNvSpPr txBox="1"/>
          <p:nvPr>
            <p:ph idx="12" type="sldNum"/>
          </p:nvPr>
        </p:nvSpPr>
        <p:spPr>
          <a:xfrm>
            <a:off x="5451184" y="3135783"/>
            <a:ext cx="254000" cy="102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18</a:t>
            </a:r>
            <a:endParaRPr/>
          </a:p>
        </p:txBody>
      </p:sp>
      <p:grpSp>
        <p:nvGrpSpPr>
          <p:cNvPr id="443" name="Google Shape;443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44" name="Google Shape;444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7" name="Google Shape;447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Merlinda Drini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8" name="Google Shape;448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Network IDPS Using Open-Source Tools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49" name="Google Shape;449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0" name="Google Shape;450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  <p:grpSp>
        <p:nvGrpSpPr>
          <p:cNvPr id="451" name="Google Shape;451;p20"/>
          <p:cNvGrpSpPr/>
          <p:nvPr/>
        </p:nvGrpSpPr>
        <p:grpSpPr>
          <a:xfrm>
            <a:off x="0" y="3130346"/>
            <a:ext cx="5760185" cy="109855"/>
            <a:chOff x="0" y="3130346"/>
            <a:chExt cx="5760185" cy="109855"/>
          </a:xfrm>
        </p:grpSpPr>
        <p:sp>
          <p:nvSpPr>
            <p:cNvPr id="452" name="Google Shape;452;p20"/>
            <p:cNvSpPr/>
            <p:nvPr/>
          </p:nvSpPr>
          <p:spPr>
            <a:xfrm>
              <a:off x="0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094183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1919973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0"/>
            <p:cNvSpPr/>
            <p:nvPr/>
          </p:nvSpPr>
          <p:spPr>
            <a:xfrm>
              <a:off x="3839946" y="3130346"/>
              <a:ext cx="1920239" cy="109855"/>
            </a:xfrm>
            <a:custGeom>
              <a:rect b="b" l="l" r="r" t="t"/>
              <a:pathLst>
                <a:path extrusionOk="0" h="109855" w="1920239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5" name="Google Shape;455;p20"/>
          <p:cNvSpPr txBox="1"/>
          <p:nvPr/>
        </p:nvSpPr>
        <p:spPr>
          <a:xfrm>
            <a:off x="83477" y="3135783"/>
            <a:ext cx="1752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2F2F2"/>
                </a:solidFill>
                <a:latin typeface="Tahoma"/>
                <a:ea typeface="Tahoma"/>
                <a:cs typeface="Tahoma"/>
                <a:sym typeface="Tahoma"/>
              </a:rPr>
              <a:t>Jhonatan Parada Torres, Dr. Guozhen An</a:t>
            </a:r>
            <a:endParaRPr sz="6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6" name="Google Shape;456;p20"/>
          <p:cNvSpPr txBox="1"/>
          <p:nvPr>
            <p:ph idx="11" type="ftr"/>
          </p:nvPr>
        </p:nvSpPr>
        <p:spPr>
          <a:xfrm>
            <a:off x="2111768" y="3135783"/>
            <a:ext cx="15366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System of MBTI personality Recognition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7" name="Google Shape;457;p20"/>
          <p:cNvSpPr txBox="1"/>
          <p:nvPr>
            <p:ph idx="10" type="dt"/>
          </p:nvPr>
        </p:nvSpPr>
        <p:spPr>
          <a:xfrm>
            <a:off x="4472876" y="3135783"/>
            <a:ext cx="42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94183"/>
                </a:solidFill>
              </a:rPr>
              <a:t>April 2026</a:t>
            </a:r>
            <a:endParaRPr>
              <a:solidFill>
                <a:srgbClr val="094183"/>
              </a:solidFill>
            </a:endParaRPr>
          </a:p>
        </p:txBody>
      </p:sp>
      <p:sp>
        <p:nvSpPr>
          <p:cNvPr id="458" name="Google Shape;458;p20"/>
          <p:cNvSpPr txBox="1"/>
          <p:nvPr>
            <p:ph idx="12" type="sldNum"/>
          </p:nvPr>
        </p:nvSpPr>
        <p:spPr>
          <a:xfrm>
            <a:off x="5451184" y="3135783"/>
            <a:ext cx="25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270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94183"/>
                </a:solidFill>
              </a:rPr>
              <a:t>‹#›</a:t>
            </a:fld>
            <a:r>
              <a:rPr lang="en-US">
                <a:solidFill>
                  <a:srgbClr val="094183"/>
                </a:solidFill>
              </a:rPr>
              <a:t> / 18</a:t>
            </a:r>
            <a:endParaRPr>
              <a:solidFill>
                <a:srgbClr val="094183"/>
              </a:solidFill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40404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