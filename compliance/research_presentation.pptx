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3244850" cx="5765800"/>
  <p:notesSz cx="5765800" cy="3244850"/>
  <p:embeddedFontLst>
    <p:embeddedFont>
      <p:font typeface="Tahoma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Tahoma-bold.fntdata"/><Relationship Id="rId16" Type="http://schemas.openxmlformats.org/officeDocument/2006/relationships/font" Target="fonts/Tahoma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96d56d5442_0_2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96d56d5442_0_2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4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5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d4d847e4a6_0_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d4d847e4a6_0_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7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7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8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8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3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3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 txBox="1"/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" type="subTitle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body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2" type="body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94183"/>
              </a:buClr>
              <a:buSzPts val="1400"/>
              <a:buNone/>
              <a:defRPr b="0" i="0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4221087" y="3045573"/>
            <a:ext cx="43180" cy="30480"/>
          </a:xfrm>
          <a:custGeom>
            <a:rect b="b" l="l" r="r" t="t"/>
            <a:pathLst>
              <a:path extrusionOk="0" h="30480" w="431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4141470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"/>
          <p:cNvSpPr/>
          <p:nvPr/>
        </p:nvSpPr>
        <p:spPr>
          <a:xfrm>
            <a:off x="4319272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4475618" y="3035261"/>
            <a:ext cx="64135" cy="50800"/>
          </a:xfrm>
          <a:custGeom>
            <a:rect b="b" l="l" r="r" t="t"/>
            <a:pathLst>
              <a:path extrusionOk="0" h="50800" w="64135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extrusionOk="0" h="50800" w="64135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extrusionOk="0" h="50800" w="64135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4412450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772318" y="3047961"/>
            <a:ext cx="38100" cy="0"/>
          </a:xfrm>
          <a:custGeom>
            <a:rect b="b" l="l" r="r" t="t"/>
            <a:pathLst>
              <a:path extrusionOk="0" h="120000"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1"/>
          <p:cNvSpPr/>
          <p:nvPr/>
        </p:nvSpPr>
        <p:spPr>
          <a:xfrm>
            <a:off x="468341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4759618" y="3035261"/>
            <a:ext cx="50800" cy="50800"/>
          </a:xfrm>
          <a:custGeom>
            <a:rect b="b" l="l" r="r" t="t"/>
            <a:pathLst>
              <a:path extrusionOk="0" h="50800" w="50800">
                <a:moveTo>
                  <a:pt x="0" y="0"/>
                </a:moveTo>
                <a:lnTo>
                  <a:pt x="38100" y="0"/>
                </a:lnTo>
              </a:path>
              <a:path extrusionOk="0" h="50800" w="50800">
                <a:moveTo>
                  <a:pt x="12700" y="25400"/>
                </a:moveTo>
                <a:lnTo>
                  <a:pt x="50800" y="25400"/>
                </a:lnTo>
              </a:path>
              <a:path extrusionOk="0" h="50800" w="50800">
                <a:moveTo>
                  <a:pt x="0" y="38100"/>
                </a:moveTo>
                <a:lnTo>
                  <a:pt x="38100" y="38100"/>
                </a:lnTo>
              </a:path>
              <a:path extrusionOk="0" h="50800" w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5030598" y="30352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700" y="12700"/>
                </a:moveTo>
                <a:lnTo>
                  <a:pt x="50800" y="12700"/>
                </a:lnTo>
              </a:path>
              <a:path extrusionOk="0" h="25400" w="508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"/>
          <p:cNvSpPr/>
          <p:nvPr/>
        </p:nvSpPr>
        <p:spPr>
          <a:xfrm>
            <a:off x="495439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"/>
          <p:cNvSpPr/>
          <p:nvPr/>
        </p:nvSpPr>
        <p:spPr>
          <a:xfrm>
            <a:off x="5030598" y="3073361"/>
            <a:ext cx="50800" cy="12700"/>
          </a:xfrm>
          <a:custGeom>
            <a:rect b="b" l="l" r="r" t="t"/>
            <a:pathLst>
              <a:path extrusionOk="0" h="12700" w="50800">
                <a:moveTo>
                  <a:pt x="0" y="0"/>
                </a:moveTo>
                <a:lnTo>
                  <a:pt x="38100" y="0"/>
                </a:lnTo>
              </a:path>
              <a:path extrusionOk="0" h="12700" w="508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238077" y="3035261"/>
            <a:ext cx="63500" cy="50800"/>
          </a:xfrm>
          <a:custGeom>
            <a:rect b="b" l="l" r="r" t="t"/>
            <a:pathLst>
              <a:path extrusionOk="0" h="50800" w="63500">
                <a:moveTo>
                  <a:pt x="12700" y="0"/>
                </a:moveTo>
                <a:lnTo>
                  <a:pt x="50800" y="0"/>
                </a:lnTo>
              </a:path>
              <a:path extrusionOk="0" h="50800" w="63500">
                <a:moveTo>
                  <a:pt x="25400" y="12700"/>
                </a:moveTo>
                <a:lnTo>
                  <a:pt x="63500" y="12700"/>
                </a:lnTo>
              </a:path>
              <a:path extrusionOk="0" h="50800" w="63500">
                <a:moveTo>
                  <a:pt x="25400" y="25400"/>
                </a:moveTo>
                <a:lnTo>
                  <a:pt x="63500" y="25400"/>
                </a:lnTo>
              </a:path>
              <a:path extrusionOk="0" h="50800" w="63500">
                <a:moveTo>
                  <a:pt x="0" y="38100"/>
                </a:moveTo>
                <a:lnTo>
                  <a:pt x="50800" y="38100"/>
                </a:lnTo>
              </a:path>
              <a:path extrusionOk="0" h="50800" w="63500">
                <a:moveTo>
                  <a:pt x="25400" y="50800"/>
                </a:moveTo>
                <a:lnTo>
                  <a:pt x="63500" y="508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352378" y="30479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699" y="12700"/>
                </a:moveTo>
                <a:lnTo>
                  <a:pt x="50800" y="12700"/>
                </a:lnTo>
              </a:path>
              <a:path extrusionOk="0" h="25400" w="50800">
                <a:moveTo>
                  <a:pt x="12699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326978" y="3028911"/>
            <a:ext cx="0" cy="63500"/>
          </a:xfrm>
          <a:custGeom>
            <a:rect b="b" l="l" r="r" t="t"/>
            <a:pathLst>
              <a:path extrusionOk="0" h="63500" w="120000">
                <a:moveTo>
                  <a:pt x="0" y="63500"/>
                </a:moveTo>
                <a:lnTo>
                  <a:pt x="0" y="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603025" y="3065741"/>
            <a:ext cx="20320" cy="20320"/>
          </a:xfrm>
          <a:custGeom>
            <a:rect b="b" l="l" r="r" t="t"/>
            <a:pathLst>
              <a:path extrusionOk="0" h="20319" w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575961" y="3039246"/>
            <a:ext cx="30480" cy="30480"/>
          </a:xfrm>
          <a:custGeom>
            <a:rect b="b" l="l" r="r" t="t"/>
            <a:pathLst>
              <a:path extrusionOk="0" h="30480" w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5481104" y="3035261"/>
            <a:ext cx="233679" cy="50800"/>
          </a:xfrm>
          <a:custGeom>
            <a:rect b="b" l="l" r="r" t="t"/>
            <a:pathLst>
              <a:path extrusionOk="0" h="50800" w="233679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extrusionOk="0" h="50800" w="233679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extrusionOk="0" h="50800" w="233679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extrusionOk="0" h="50800" w="233679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4" name="Google Shape;24;p1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1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" name="Google Shape;26;p1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" name="Google Shape;27;p1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7"/>
          <p:cNvGrpSpPr/>
          <p:nvPr/>
        </p:nvGrpSpPr>
        <p:grpSpPr>
          <a:xfrm>
            <a:off x="-144575" y="-4277"/>
            <a:ext cx="6047937" cy="721746"/>
            <a:chOff x="165200" y="317842"/>
            <a:chExt cx="5480686" cy="721746"/>
          </a:xfrm>
        </p:grpSpPr>
        <p:sp>
          <p:nvSpPr>
            <p:cNvPr id="61" name="Google Shape;61;p7"/>
            <p:cNvSpPr/>
            <p:nvPr/>
          </p:nvSpPr>
          <p:spPr>
            <a:xfrm>
              <a:off x="165200" y="317842"/>
              <a:ext cx="5429885" cy="82550"/>
            </a:xfrm>
            <a:custGeom>
              <a:rect b="b" l="l" r="r" t="t"/>
              <a:pathLst>
                <a:path extrusionOk="0" h="82550" w="5429885">
                  <a:moveTo>
                    <a:pt x="5378869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429669" y="82384"/>
                  </a:lnTo>
                  <a:lnTo>
                    <a:pt x="5429669" y="50800"/>
                  </a:lnTo>
                  <a:lnTo>
                    <a:pt x="5425661" y="31075"/>
                  </a:lnTo>
                  <a:lnTo>
                    <a:pt x="5414747" y="14922"/>
                  </a:lnTo>
                  <a:lnTo>
                    <a:pt x="5398594" y="4008"/>
                  </a:lnTo>
                  <a:lnTo>
                    <a:pt x="53788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7"/>
            <p:cNvSpPr/>
            <p:nvPr/>
          </p:nvSpPr>
          <p:spPr>
            <a:xfrm>
              <a:off x="216001" y="381093"/>
              <a:ext cx="5429885" cy="658495"/>
            </a:xfrm>
            <a:custGeom>
              <a:rect b="b" l="l" r="r" t="t"/>
              <a:pathLst>
                <a:path extrusionOk="0" h="658494" w="5429885">
                  <a:moveTo>
                    <a:pt x="5429670" y="0"/>
                  </a:moveTo>
                  <a:lnTo>
                    <a:pt x="0" y="0"/>
                  </a:lnTo>
                  <a:lnTo>
                    <a:pt x="0" y="658415"/>
                  </a:lnTo>
                  <a:lnTo>
                    <a:pt x="5429670" y="658415"/>
                  </a:lnTo>
                  <a:lnTo>
                    <a:pt x="5429670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7"/>
            <p:cNvSpPr/>
            <p:nvPr/>
          </p:nvSpPr>
          <p:spPr>
            <a:xfrm>
              <a:off x="165200" y="362256"/>
              <a:ext cx="5429885" cy="626745"/>
            </a:xfrm>
            <a:custGeom>
              <a:rect b="b" l="l" r="r" t="t"/>
              <a:pathLst>
                <a:path extrusionOk="0" h="626744" w="5429885">
                  <a:moveTo>
                    <a:pt x="5429669" y="0"/>
                  </a:moveTo>
                  <a:lnTo>
                    <a:pt x="0" y="0"/>
                  </a:lnTo>
                  <a:lnTo>
                    <a:pt x="0" y="575651"/>
                  </a:lnTo>
                  <a:lnTo>
                    <a:pt x="4008" y="595375"/>
                  </a:lnTo>
                  <a:lnTo>
                    <a:pt x="14922" y="611528"/>
                  </a:lnTo>
                  <a:lnTo>
                    <a:pt x="31075" y="622443"/>
                  </a:lnTo>
                  <a:lnTo>
                    <a:pt x="50800" y="626451"/>
                  </a:lnTo>
                  <a:lnTo>
                    <a:pt x="5378869" y="626451"/>
                  </a:lnTo>
                  <a:lnTo>
                    <a:pt x="5398594" y="622443"/>
                  </a:lnTo>
                  <a:lnTo>
                    <a:pt x="5414747" y="611528"/>
                  </a:lnTo>
                  <a:lnTo>
                    <a:pt x="5425661" y="595375"/>
                  </a:lnTo>
                  <a:lnTo>
                    <a:pt x="5429669" y="575651"/>
                  </a:lnTo>
                  <a:lnTo>
                    <a:pt x="54296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" name="Google Shape;64;p7"/>
          <p:cNvSpPr txBox="1"/>
          <p:nvPr/>
        </p:nvSpPr>
        <p:spPr>
          <a:xfrm>
            <a:off x="304520" y="1198802"/>
            <a:ext cx="5152500" cy="1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975">
            <a:spAutoFit/>
          </a:bodyPr>
          <a:lstStyle/>
          <a:p>
            <a:pPr indent="0" lvl="0" marL="12700" marR="5080" rtl="0" algn="ctr">
              <a:lnSpc>
                <a:spcPct val="10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Jhonatan Parada Torres, Dr. Guozhen An (Faculty Advisor)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15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1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Queensborough Community College, Department of Engineering Technology, City University of New York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4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April 30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, 2026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5" name="Google Shape;65;p7"/>
          <p:cNvSpPr txBox="1"/>
          <p:nvPr>
            <p:ph type="title"/>
          </p:nvPr>
        </p:nvSpPr>
        <p:spPr>
          <a:xfrm>
            <a:off x="202496" y="112700"/>
            <a:ext cx="53538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1900">
            <a:noAutofit/>
          </a:bodyPr>
          <a:lstStyle/>
          <a:p>
            <a:pPr indent="-1353820" lvl="0" marL="1512570" marR="252729" rtl="0" algn="ctr">
              <a:lnSpc>
                <a:spcPct val="106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End-to-End System of MBTI personality Recognition</a:t>
            </a:r>
            <a:endParaRPr sz="1400">
              <a:solidFill>
                <a:srgbClr val="FFFFFF"/>
              </a:solidFill>
            </a:endParaRPr>
          </a:p>
        </p:txBody>
      </p:sp>
      <p:grpSp>
        <p:nvGrpSpPr>
          <p:cNvPr id="66" name="Google Shape;66;p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67" name="Google Shape;67;p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" name="Google Shape;70;p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1" name="Google Shape;71;p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2" name="Google Shape;72;p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3" name="Google Shape;73;p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79" name="Google Shape;79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8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Motivation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83" name="Google Shape;83;p8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4" name="Google Shape;84;p8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85" name="Google Shape;85;p8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86" name="Google Shape;86;p8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87" name="Google Shape;87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88" name="Google Shape;88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" name="Google Shape;91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2" name="Google Shape;92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3" name="Google Shape;93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95" name="Google Shape;95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96" name="Google Shape;96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" name="Google Shape;99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Google Shape;100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1" name="Google Shape;101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2" name="Google Shape;102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9"/>
          <p:cNvSpPr txBox="1"/>
          <p:nvPr>
            <p:ph type="title"/>
          </p:nvPr>
        </p:nvSpPr>
        <p:spPr>
          <a:xfrm>
            <a:off x="95300" y="72300"/>
            <a:ext cx="1816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08" name="Google Shape;108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09" name="Google Shape;109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2" name="Google Shape;112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3" name="Google Shape;113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14" name="Google Shape;114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15" name="Google Shape;115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16" name="Google Shape;116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7" name="Google Shape;117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0" name="Google Shape;120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1" name="Google Shape;121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2" name="Google Shape;122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3" name="Google Shape;123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24" name="Google Shape;124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25" name="Google Shape;125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8" name="Google Shape;128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0" name="Google Shape;130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1" name="Google Shape;131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32" name="Google Shape;132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013" y="336250"/>
            <a:ext cx="5330128" cy="2572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38" name="Google Shape;138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1" name="Google Shape;141;p10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Motivation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42" name="Google Shape;142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3" name="Google Shape;143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44" name="Google Shape;144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45" name="Google Shape;145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46" name="Google Shape;146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47" name="Google Shape;147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0" name="Google Shape;150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1" name="Google Shape;151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2" name="Google Shape;152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3" name="Google Shape;153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54" name="Google Shape;154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55" name="Google Shape;155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8" name="Google Shape;158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9" name="Google Shape;159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0" name="Google Shape;160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1" name="Google Shape;161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62" name="Google Shape;162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100" y="926077"/>
            <a:ext cx="4345600" cy="139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68" name="Google Shape;168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69" name="Google Shape;169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2" name="Google Shape;172;p11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3" name="Google Shape;173;p11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74" name="Google Shape;174;p11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75" name="Google Shape;175;p11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76" name="Google Shape;176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77" name="Google Shape;177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0" name="Google Shape;180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1" name="Google Shape;181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2" name="Google Shape;182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3" name="Google Shape;183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84" name="Google Shape;184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85" name="Google Shape;185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8" name="Google Shape;188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0" name="Google Shape;190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1" name="Google Shape;191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92" name="Google Shape;192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175" y="336262"/>
            <a:ext cx="3589441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" name="Google Shape;197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98" name="Google Shape;198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1" name="Google Shape;201;p12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02" name="Google Shape;202;p12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3" name="Google Shape;203;p1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04" name="Google Shape;204;p1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05" name="Google Shape;205;p1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06" name="Google Shape;206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07" name="Google Shape;207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0" name="Google Shape;210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1" name="Google Shape;211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2" name="Google Shape;212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3" name="Google Shape;213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14" name="Google Shape;214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15" name="Google Shape;215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8" name="Google Shape;218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0" name="Google Shape;220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1" name="Google Shape;221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3"/>
          <p:cNvSpPr txBox="1"/>
          <p:nvPr/>
        </p:nvSpPr>
        <p:spPr>
          <a:xfrm>
            <a:off x="95300" y="44079"/>
            <a:ext cx="53232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Methods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7" name="Google Shape;227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8" name="Google Shape;228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29" name="Google Shape;229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30" name="Google Shape;230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31" name="Google Shape;231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32" name="Google Shape;232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5" name="Google Shape;235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6" name="Google Shape;236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37" name="Google Shape;237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38" name="Google Shape;238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39" name="Google Shape;239;p13"/>
          <p:cNvSpPr txBox="1"/>
          <p:nvPr/>
        </p:nvSpPr>
        <p:spPr>
          <a:xfrm>
            <a:off x="348825" y="2657007"/>
            <a:ext cx="5206800" cy="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</a:rPr>
              <a:t>source: https://www.malware-traffic-analysis.net/2026/01/31/index.html</a:t>
            </a:r>
            <a:endParaRPr sz="900">
              <a:solidFill>
                <a:schemeClr val="dk1"/>
              </a:solidFill>
            </a:endParaRPr>
          </a:p>
        </p:txBody>
      </p:sp>
      <p:grpSp>
        <p:nvGrpSpPr>
          <p:cNvPr id="240" name="Google Shape;240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41" name="Google Shape;241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4" name="Google Shape;244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5" name="Google Shape;245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6" name="Google Shape;246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7" name="Google Shape;247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4"/>
          <p:cNvSpPr txBox="1"/>
          <p:nvPr/>
        </p:nvSpPr>
        <p:spPr>
          <a:xfrm>
            <a:off x="95300" y="44079"/>
            <a:ext cx="50793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3" name="Google Shape;253;p14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4" name="Google Shape;254;p14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55" name="Google Shape;255;p14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56" name="Google Shape;256;p14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57" name="Google Shape;257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58" name="Google Shape;258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1" name="Google Shape;261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2" name="Google Shape;262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63" name="Google Shape;263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64" name="Google Shape;264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65" name="Google Shape;265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66" name="Google Shape;266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9" name="Google Shape;269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0" name="Google Shape;270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1" name="Google Shape;271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2" name="Google Shape;272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7" name="Google Shape;277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78" name="Google Shape;278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1" name="Google Shape;281;p15"/>
          <p:cNvSpPr txBox="1"/>
          <p:nvPr>
            <p:ph type="title"/>
          </p:nvPr>
        </p:nvSpPr>
        <p:spPr>
          <a:xfrm>
            <a:off x="95300" y="72312"/>
            <a:ext cx="1744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Summary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2" name="Google Shape;282;p15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1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84" name="Google Shape;284;p1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85" name="Google Shape;285;p1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86" name="Google Shape;286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87" name="Google Shape;287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0" name="Google Shape;290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1" name="Google Shape;291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92" name="Google Shape;292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93" name="Google Shape;293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94" name="Google Shape;294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95" name="Google Shape;295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8" name="Google Shape;298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9" name="Google Shape;299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0" name="Google Shape;300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1" name="Google Shape;301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07" name="Google Shape;307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0" name="Google Shape;310;p16"/>
          <p:cNvSpPr txBox="1"/>
          <p:nvPr/>
        </p:nvSpPr>
        <p:spPr>
          <a:xfrm>
            <a:off x="1166329" y="919820"/>
            <a:ext cx="3429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Thank you for your interest, questions, and comments!</a:t>
            </a:r>
            <a:endParaRPr sz="1200">
              <a:solidFill>
                <a:srgbClr val="09418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1" name="Google Shape;311;p16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2" name="Google Shape;312;p16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13" name="Google Shape;313;p16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14" name="Google Shape;314;p16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15" name="Google Shape;315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16" name="Google Shape;316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9" name="Google Shape;319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0" name="Google Shape;320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21" name="Google Shape;321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22" name="Google Shape;322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23" name="Google Shape;323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24" name="Google Shape;324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7" name="Google Shape;327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8" name="Google Shape;328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29" name="Google Shape;329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0" name="Google Shape;330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40404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